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5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72" r:id="rId10"/>
    <p:sldId id="274" r:id="rId11"/>
    <p:sldId id="275" r:id="rId12"/>
    <p:sldId id="268" r:id="rId13"/>
    <p:sldId id="269" r:id="rId14"/>
    <p:sldId id="270" r:id="rId15"/>
    <p:sldId id="273" r:id="rId16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FF183-5ADD-4160-BF97-0425D4704981}" v="1" dt="2026-07-17T16:27:35.3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bashaa@outlook.com" userId="b17bc11505e14b0c" providerId="LiveId" clId="{76F66E09-38CB-4456-A61D-FE80486812F5}"/>
    <pc:docChg chg="undo custSel addSld delSld modSld sldOrd">
      <pc:chgData name="sidbashaa@outlook.com" userId="b17bc11505e14b0c" providerId="LiveId" clId="{76F66E09-38CB-4456-A61D-FE80486812F5}" dt="2026-07-18T07:30:05.666" v="53" actId="20577"/>
      <pc:docMkLst>
        <pc:docMk/>
      </pc:docMkLst>
      <pc:sldChg chg="modSp mod">
        <pc:chgData name="sidbashaa@outlook.com" userId="b17bc11505e14b0c" providerId="LiveId" clId="{76F66E09-38CB-4456-A61D-FE80486812F5}" dt="2026-07-18T06:17:39.292" v="50" actId="1076"/>
        <pc:sldMkLst>
          <pc:docMk/>
          <pc:sldMk cId="0" sldId="256"/>
        </pc:sldMkLst>
        <pc:spChg chg="mod">
          <ac:chgData name="sidbashaa@outlook.com" userId="b17bc11505e14b0c" providerId="LiveId" clId="{76F66E09-38CB-4456-A61D-FE80486812F5}" dt="2026-07-18T06:17:39.292" v="50" actId="1076"/>
          <ac:spMkLst>
            <pc:docMk/>
            <pc:sldMk cId="0" sldId="256"/>
            <ac:spMk id="14" creationId="{00000000-0000-0000-0000-000000000000}"/>
          </ac:spMkLst>
        </pc:spChg>
        <pc:picChg chg="mod">
          <ac:chgData name="sidbashaa@outlook.com" userId="b17bc11505e14b0c" providerId="LiveId" clId="{76F66E09-38CB-4456-A61D-FE80486812F5}" dt="2026-07-17T16:23:52.871" v="34" actId="1076"/>
          <ac:picMkLst>
            <pc:docMk/>
            <pc:sldMk cId="0" sldId="256"/>
            <ac:picMk id="12" creationId="{00000000-0000-0000-0000-000000000000}"/>
          </ac:picMkLst>
        </pc:picChg>
      </pc:sldChg>
      <pc:sldChg chg="modSp mod ord">
        <pc:chgData name="sidbashaa@outlook.com" userId="b17bc11505e14b0c" providerId="LiveId" clId="{76F66E09-38CB-4456-A61D-FE80486812F5}" dt="2026-07-18T06:22:42.158" v="52"/>
        <pc:sldMkLst>
          <pc:docMk/>
          <pc:sldMk cId="0" sldId="258"/>
        </pc:sldMkLst>
        <pc:spChg chg="mod">
          <ac:chgData name="sidbashaa@outlook.com" userId="b17bc11505e14b0c" providerId="LiveId" clId="{76F66E09-38CB-4456-A61D-FE80486812F5}" dt="2026-07-17T16:20:18.972" v="5" actId="2711"/>
          <ac:spMkLst>
            <pc:docMk/>
            <pc:sldMk cId="0" sldId="258"/>
            <ac:spMk id="7" creationId="{9F252EE8-6234-E6AF-04E9-1C0FBA36EC05}"/>
          </ac:spMkLst>
        </pc:spChg>
        <pc:picChg chg="mod">
          <ac:chgData name="sidbashaa@outlook.com" userId="b17bc11505e14b0c" providerId="LiveId" clId="{76F66E09-38CB-4456-A61D-FE80486812F5}" dt="2026-07-17T16:23:41.501" v="33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3:31.285" v="31" actId="1076"/>
        <pc:sldMkLst>
          <pc:docMk/>
          <pc:sldMk cId="0" sldId="259"/>
        </pc:sldMkLst>
        <pc:spChg chg="mod">
          <ac:chgData name="sidbashaa@outlook.com" userId="b17bc11505e14b0c" providerId="LiveId" clId="{76F66E09-38CB-4456-A61D-FE80486812F5}" dt="2026-07-17T16:21:06.047" v="9" actId="1076"/>
          <ac:spMkLst>
            <pc:docMk/>
            <pc:sldMk cId="0" sldId="259"/>
            <ac:spMk id="7" creationId="{8CD5AF86-2963-E92E-4C62-BB6F9BE136ED}"/>
          </ac:spMkLst>
        </pc:spChg>
        <pc:picChg chg="mod">
          <ac:chgData name="sidbashaa@outlook.com" userId="b17bc11505e14b0c" providerId="LiveId" clId="{76F66E09-38CB-4456-A61D-FE80486812F5}" dt="2026-07-17T16:23:31.285" v="31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3:35.942" v="32" actId="1076"/>
        <pc:sldMkLst>
          <pc:docMk/>
          <pc:sldMk cId="0" sldId="260"/>
        </pc:sldMkLst>
        <pc:spChg chg="mod">
          <ac:chgData name="sidbashaa@outlook.com" userId="b17bc11505e14b0c" providerId="LiveId" clId="{76F66E09-38CB-4456-A61D-FE80486812F5}" dt="2026-07-17T16:20:09.547" v="4" actId="2711"/>
          <ac:spMkLst>
            <pc:docMk/>
            <pc:sldMk cId="0" sldId="260"/>
            <ac:spMk id="7" creationId="{D30FE854-0EA1-5631-C39A-4B1D628121BA}"/>
          </ac:spMkLst>
        </pc:spChg>
        <pc:picChg chg="mod">
          <ac:chgData name="sidbashaa@outlook.com" userId="b17bc11505e14b0c" providerId="LiveId" clId="{76F66E09-38CB-4456-A61D-FE80486812F5}" dt="2026-07-17T16:23:35.942" v="32" actId="1076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3:21.656" v="30" actId="1076"/>
        <pc:sldMkLst>
          <pc:docMk/>
          <pc:sldMk cId="0" sldId="261"/>
        </pc:sldMkLst>
        <pc:spChg chg="mod">
          <ac:chgData name="sidbashaa@outlook.com" userId="b17bc11505e14b0c" providerId="LiveId" clId="{76F66E09-38CB-4456-A61D-FE80486812F5}" dt="2026-07-17T16:21:30.829" v="10" actId="2711"/>
          <ac:spMkLst>
            <pc:docMk/>
            <pc:sldMk cId="0" sldId="261"/>
            <ac:spMk id="7" creationId="{8155F8FE-6932-0EAA-8794-997E42BA014A}"/>
          </ac:spMkLst>
        </pc:spChg>
        <pc:picChg chg="mod">
          <ac:chgData name="sidbashaa@outlook.com" userId="b17bc11505e14b0c" providerId="LiveId" clId="{76F66E09-38CB-4456-A61D-FE80486812F5}" dt="2026-07-17T16:23:21.656" v="30" actId="1076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8:13.983" v="49" actId="20577"/>
        <pc:sldMkLst>
          <pc:docMk/>
          <pc:sldMk cId="0" sldId="262"/>
        </pc:sldMkLst>
        <pc:spChg chg="mod">
          <ac:chgData name="sidbashaa@outlook.com" userId="b17bc11505e14b0c" providerId="LiveId" clId="{76F66E09-38CB-4456-A61D-FE80486812F5}" dt="2026-07-17T16:28:13.983" v="49" actId="20577"/>
          <ac:spMkLst>
            <pc:docMk/>
            <pc:sldMk cId="0" sldId="262"/>
            <ac:spMk id="7" creationId="{9FDE217A-D123-3569-DEC2-51C05A1AAFFA}"/>
          </ac:spMkLst>
        </pc:spChg>
        <pc:picChg chg="mod">
          <ac:chgData name="sidbashaa@outlook.com" userId="b17bc11505e14b0c" providerId="LiveId" clId="{76F66E09-38CB-4456-A61D-FE80486812F5}" dt="2026-07-17T16:23:15.727" v="29" actId="1076"/>
          <ac:picMkLst>
            <pc:docMk/>
            <pc:sldMk cId="0" sldId="262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3:05.989" v="28" actId="1076"/>
        <pc:sldMkLst>
          <pc:docMk/>
          <pc:sldMk cId="0" sldId="263"/>
        </pc:sldMkLst>
        <pc:spChg chg="mod">
          <ac:chgData name="sidbashaa@outlook.com" userId="b17bc11505e14b0c" providerId="LiveId" clId="{76F66E09-38CB-4456-A61D-FE80486812F5}" dt="2026-07-17T16:21:51.515" v="12" actId="2711"/>
          <ac:spMkLst>
            <pc:docMk/>
            <pc:sldMk cId="0" sldId="263"/>
            <ac:spMk id="7" creationId="{D2AEFC9C-3AC3-F94B-732A-0F41B09E9F72}"/>
          </ac:spMkLst>
        </pc:spChg>
        <pc:picChg chg="mod">
          <ac:chgData name="sidbashaa@outlook.com" userId="b17bc11505e14b0c" providerId="LiveId" clId="{76F66E09-38CB-4456-A61D-FE80486812F5}" dt="2026-07-17T16:23:05.989" v="28" actId="1076"/>
          <ac:picMkLst>
            <pc:docMk/>
            <pc:sldMk cId="0" sldId="263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7T16:22:59.915" v="27" actId="1076"/>
        <pc:sldMkLst>
          <pc:docMk/>
          <pc:sldMk cId="0" sldId="272"/>
        </pc:sldMkLst>
        <pc:spChg chg="mod">
          <ac:chgData name="sidbashaa@outlook.com" userId="b17bc11505e14b0c" providerId="LiveId" clId="{76F66E09-38CB-4456-A61D-FE80486812F5}" dt="2026-07-17T16:22:04.360" v="13" actId="2711"/>
          <ac:spMkLst>
            <pc:docMk/>
            <pc:sldMk cId="0" sldId="272"/>
            <ac:spMk id="7" creationId="{A185BA7E-66B7-B507-8D49-0C9CEDDC133C}"/>
          </ac:spMkLst>
        </pc:spChg>
        <pc:picChg chg="mod">
          <ac:chgData name="sidbashaa@outlook.com" userId="b17bc11505e14b0c" providerId="LiveId" clId="{76F66E09-38CB-4456-A61D-FE80486812F5}" dt="2026-07-17T16:22:59.915" v="27" actId="1076"/>
          <ac:picMkLst>
            <pc:docMk/>
            <pc:sldMk cId="0" sldId="272"/>
            <ac:picMk id="2" creationId="{00000000-0000-0000-0000-000000000000}"/>
          </ac:picMkLst>
        </pc:picChg>
      </pc:sldChg>
      <pc:sldChg chg="modSp mod">
        <pc:chgData name="sidbashaa@outlook.com" userId="b17bc11505e14b0c" providerId="LiveId" clId="{76F66E09-38CB-4456-A61D-FE80486812F5}" dt="2026-07-18T07:30:05.666" v="53" actId="20577"/>
        <pc:sldMkLst>
          <pc:docMk/>
          <pc:sldMk cId="0" sldId="273"/>
        </pc:sldMkLst>
        <pc:spChg chg="mod">
          <ac:chgData name="sidbashaa@outlook.com" userId="b17bc11505e14b0c" providerId="LiveId" clId="{76F66E09-38CB-4456-A61D-FE80486812F5}" dt="2026-07-18T07:30:05.666" v="53" actId="20577"/>
          <ac:spMkLst>
            <pc:docMk/>
            <pc:sldMk cId="0" sldId="273"/>
            <ac:spMk id="2" creationId="{00000000-0000-0000-0000-000000000000}"/>
          </ac:spMkLst>
        </pc:spChg>
      </pc:sldChg>
      <pc:sldChg chg="modSp mod">
        <pc:chgData name="sidbashaa@outlook.com" userId="b17bc11505e14b0c" providerId="LiveId" clId="{76F66E09-38CB-4456-A61D-FE80486812F5}" dt="2026-07-17T16:22:53.113" v="26" actId="1076"/>
        <pc:sldMkLst>
          <pc:docMk/>
          <pc:sldMk cId="441214762" sldId="274"/>
        </pc:sldMkLst>
        <pc:spChg chg="mod">
          <ac:chgData name="sidbashaa@outlook.com" userId="b17bc11505e14b0c" providerId="LiveId" clId="{76F66E09-38CB-4456-A61D-FE80486812F5}" dt="2026-07-17T16:22:33.696" v="22" actId="27636"/>
          <ac:spMkLst>
            <pc:docMk/>
            <pc:sldMk cId="441214762" sldId="274"/>
            <ac:spMk id="3" creationId="{773CEAEE-26F8-7F1F-1CD8-10C7FED8EFDA}"/>
          </ac:spMkLst>
        </pc:spChg>
        <pc:picChg chg="mod">
          <ac:chgData name="sidbashaa@outlook.com" userId="b17bc11505e14b0c" providerId="LiveId" clId="{76F66E09-38CB-4456-A61D-FE80486812F5}" dt="2026-07-17T16:22:53.113" v="26" actId="1076"/>
          <ac:picMkLst>
            <pc:docMk/>
            <pc:sldMk cId="441214762" sldId="274"/>
            <ac:picMk id="4" creationId="{EC3A3B4D-8027-F5FA-7ADF-DEAEE706AE5D}"/>
          </ac:picMkLst>
        </pc:picChg>
      </pc:sldChg>
      <pc:sldChg chg="modSp mod">
        <pc:chgData name="sidbashaa@outlook.com" userId="b17bc11505e14b0c" providerId="LiveId" clId="{76F66E09-38CB-4456-A61D-FE80486812F5}" dt="2026-07-17T16:22:48.675" v="25" actId="1076"/>
        <pc:sldMkLst>
          <pc:docMk/>
          <pc:sldMk cId="2401092808" sldId="275"/>
        </pc:sldMkLst>
        <pc:spChg chg="mod">
          <ac:chgData name="sidbashaa@outlook.com" userId="b17bc11505e14b0c" providerId="LiveId" clId="{76F66E09-38CB-4456-A61D-FE80486812F5}" dt="2026-07-17T16:22:43.605" v="24" actId="27636"/>
          <ac:spMkLst>
            <pc:docMk/>
            <pc:sldMk cId="2401092808" sldId="275"/>
            <ac:spMk id="3" creationId="{AC08DEEA-189B-BD4E-BB5B-BD1AB9C929C7}"/>
          </ac:spMkLst>
        </pc:spChg>
        <pc:picChg chg="mod">
          <ac:chgData name="sidbashaa@outlook.com" userId="b17bc11505e14b0c" providerId="LiveId" clId="{76F66E09-38CB-4456-A61D-FE80486812F5}" dt="2026-07-17T16:22:48.675" v="25" actId="1076"/>
          <ac:picMkLst>
            <pc:docMk/>
            <pc:sldMk cId="2401092808" sldId="275"/>
            <ac:picMk id="4" creationId="{28BCDE21-9921-84B1-8AA6-2B01437D3C68}"/>
          </ac:picMkLst>
        </pc:picChg>
      </pc:sldChg>
      <pc:sldChg chg="new del">
        <pc:chgData name="sidbashaa@outlook.com" userId="b17bc11505e14b0c" providerId="LiveId" clId="{76F66E09-38CB-4456-A61D-FE80486812F5}" dt="2026-07-17T16:24:04.476" v="36" actId="680"/>
        <pc:sldMkLst>
          <pc:docMk/>
          <pc:sldMk cId="3440179045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A33F8-CF79-4BF7-84DA-AD514A6598AC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3B3B4-6B9E-45F4-A5A5-05BB55709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33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3B3B4-6B9E-45F4-A5A5-05BB5570937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31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3B3B4-6B9E-45F4-A5A5-05BB5570937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01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7848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18049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2388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47478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0214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3375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76894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73016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77259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55300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4248014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738635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261916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54761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914309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703431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8239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IN" spc="-10"/>
              <a:t>SKASC</a:t>
            </a:r>
            <a:endParaRPr lang="en-IN" spc="-10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pPr marL="97790">
              <a:lnSpc>
                <a:spcPts val="142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14450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matplotlib.org/" TargetMode="External"/><Relationship Id="rId3" Type="http://schemas.openxmlformats.org/officeDocument/2006/relationships/hyperlink" Target="https://scikit-learn.org/stable/" TargetMode="External"/><Relationship Id="rId7" Type="http://schemas.openxmlformats.org/officeDocument/2006/relationships/hyperlink" Target="https://flask.palletsprojects.com/" TargetMode="External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umpy.org/" TargetMode="External"/><Relationship Id="rId11" Type="http://schemas.openxmlformats.org/officeDocument/2006/relationships/image" Target="../media/image3.jpg"/><Relationship Id="rId5" Type="http://schemas.openxmlformats.org/officeDocument/2006/relationships/hyperlink" Target="https://pandas.pydata.org/" TargetMode="External"/><Relationship Id="rId10" Type="http://schemas.openxmlformats.org/officeDocument/2006/relationships/hyperlink" Target="https://www.kaggle.com/datasets/uciml/pima-indians-diabetes-database" TargetMode="External"/><Relationship Id="rId4" Type="http://schemas.openxmlformats.org/officeDocument/2006/relationships/hyperlink" Target="https://www.tensorflow.org/" TargetMode="External"/><Relationship Id="rId9" Type="http://schemas.openxmlformats.org/officeDocument/2006/relationships/hyperlink" Target="https://jupyter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2144648"/>
            <a:ext cx="29330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FF0000"/>
                </a:solidFill>
                <a:latin typeface="Arial"/>
                <a:cs typeface="Arial"/>
              </a:rPr>
              <a:t>INDUSTRIAL</a:t>
            </a:r>
            <a:r>
              <a:rPr sz="13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EXPOSURE</a:t>
            </a:r>
            <a:r>
              <a:rPr sz="135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0000"/>
                </a:solidFill>
                <a:latin typeface="Arial"/>
                <a:cs typeface="Arial"/>
              </a:rPr>
              <a:t>TRAINING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2514980"/>
            <a:ext cx="88900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lang="en-US" sz="1350" b="1" spc="-10" dirty="0">
                <a:solidFill>
                  <a:srgbClr val="FF0000"/>
                </a:solidFill>
                <a:latin typeface="Arial"/>
                <a:cs typeface="Arial"/>
              </a:rPr>
              <a:t>4CSS28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2885313"/>
            <a:ext cx="6515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TOPIC</a:t>
            </a:r>
            <a:r>
              <a:rPr sz="1350" b="1" spc="-50" dirty="0">
                <a:solidFill>
                  <a:srgbClr val="FF0000"/>
                </a:solidFill>
                <a:latin typeface="Arial"/>
                <a:cs typeface="Arial"/>
              </a:rPr>
              <a:t> :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200" y="3256026"/>
            <a:ext cx="421957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350" b="1" dirty="0">
                <a:solidFill>
                  <a:srgbClr val="FF0000"/>
                </a:solidFill>
                <a:latin typeface="Arial"/>
                <a:cs typeface="Arial"/>
              </a:rPr>
              <a:t> DIABETES PREDICTION </a:t>
            </a:r>
            <a:endParaRPr sz="135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480" y="732030"/>
            <a:ext cx="6571060" cy="530223"/>
          </a:xfrm>
          <a:prstGeom prst="rect">
            <a:avLst/>
          </a:prstGeom>
        </p:spPr>
        <p:txBody>
          <a:bodyPr vert="horz" wrap="square" lIns="0" tIns="388797" rIns="0" bIns="0" rtlCol="0">
            <a:spAutoFit/>
          </a:bodyPr>
          <a:lstStyle/>
          <a:p>
            <a:pPr marL="2402205" marR="5080" indent="-141033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Sri</a:t>
            </a:r>
            <a:r>
              <a:rPr sz="18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Krishna</a:t>
            </a:r>
            <a:r>
              <a:rPr sz="1800" b="1" spc="4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Arts</a:t>
            </a:r>
            <a:r>
              <a:rPr sz="18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Science</a:t>
            </a:r>
            <a:r>
              <a:rPr sz="18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College Coimbatore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xfrm>
            <a:off x="838200" y="4697475"/>
            <a:ext cx="2894846" cy="22860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2348864" y="1262253"/>
            <a:ext cx="4692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Department</a:t>
            </a: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Software</a:t>
            </a:r>
            <a:r>
              <a:rPr sz="18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Systems</a:t>
            </a:r>
            <a:r>
              <a:rPr sz="18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8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AIML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9356" y="0"/>
            <a:ext cx="1296161" cy="14116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083554" y="1938256"/>
            <a:ext cx="2307846" cy="1254831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350" b="1" dirty="0">
                <a:latin typeface="Arial"/>
                <a:cs typeface="Arial"/>
              </a:rPr>
              <a:t>Name</a:t>
            </a:r>
            <a:r>
              <a:rPr sz="1350" b="1" spc="-6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:</a:t>
            </a:r>
            <a:r>
              <a:rPr sz="1350" b="1" spc="-75" dirty="0">
                <a:latin typeface="Arial"/>
                <a:cs typeface="Arial"/>
              </a:rPr>
              <a:t> </a:t>
            </a:r>
            <a:r>
              <a:rPr lang="en-IN" sz="1350" b="1" spc="-75" dirty="0">
                <a:latin typeface="Arial"/>
                <a:cs typeface="Arial"/>
              </a:rPr>
              <a:t>ASLINA  ANJUM  I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1350" b="1" spc="-10" dirty="0">
                <a:latin typeface="Arial"/>
                <a:cs typeface="Arial"/>
              </a:rPr>
              <a:t>Register Number : </a:t>
            </a:r>
            <a:r>
              <a:rPr sz="1350" b="1" spc="-10" dirty="0">
                <a:latin typeface="Arial"/>
                <a:cs typeface="Arial"/>
              </a:rPr>
              <a:t>2</a:t>
            </a:r>
            <a:r>
              <a:rPr lang="en-US" sz="1350" b="1" spc="-10" dirty="0">
                <a:latin typeface="Arial"/>
                <a:cs typeface="Arial"/>
              </a:rPr>
              <a:t>4BAI110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350" b="1" dirty="0">
                <a:latin typeface="Arial"/>
                <a:cs typeface="Arial"/>
              </a:rPr>
              <a:t>III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B.Sc.</a:t>
            </a:r>
            <a:r>
              <a:rPr sz="1350" b="1" spc="-85" dirty="0">
                <a:latin typeface="Arial"/>
                <a:cs typeface="Arial"/>
              </a:rPr>
              <a:t> </a:t>
            </a:r>
            <a:r>
              <a:rPr sz="1350" b="1" spc="-20" dirty="0">
                <a:latin typeface="Arial"/>
                <a:cs typeface="Arial"/>
              </a:rPr>
              <a:t>AIML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350" b="1" dirty="0">
                <a:latin typeface="Arial"/>
                <a:cs typeface="Arial"/>
              </a:rPr>
              <a:t>Semester</a:t>
            </a:r>
            <a:r>
              <a:rPr sz="1350" b="1" spc="-50" dirty="0">
                <a:latin typeface="Arial"/>
                <a:cs typeface="Arial"/>
              </a:rPr>
              <a:t> V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83555" y="3480358"/>
            <a:ext cx="2132330" cy="64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400"/>
              </a:lnSpc>
              <a:spcBef>
                <a:spcPts val="95"/>
              </a:spcBef>
            </a:pP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Under</a:t>
            </a:r>
            <a:r>
              <a:rPr sz="135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13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Guidance</a:t>
            </a:r>
            <a:r>
              <a:rPr sz="13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spc="-25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1350" b="1" spc="5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0000"/>
                </a:solidFill>
                <a:latin typeface="Arial"/>
                <a:cs typeface="Arial"/>
              </a:rPr>
              <a:t>Dr.</a:t>
            </a:r>
            <a:r>
              <a:rPr sz="135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M.</a:t>
            </a:r>
            <a:r>
              <a:rPr sz="13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RAJU,</a:t>
            </a:r>
            <a:r>
              <a:rPr sz="135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0000"/>
                </a:solidFill>
                <a:latin typeface="Arial"/>
                <a:cs typeface="Arial"/>
              </a:rPr>
              <a:t>M.Sc.,</a:t>
            </a:r>
            <a:r>
              <a:rPr sz="135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F0000"/>
                </a:solidFill>
                <a:latin typeface="Arial"/>
                <a:cs typeface="Arial"/>
              </a:rPr>
              <a:t>Ph.D.,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18" y="0"/>
            <a:ext cx="1798574" cy="13575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4" y="23495"/>
            <a:ext cx="1798573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6189" y="392772"/>
            <a:ext cx="657106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8707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</a:t>
            </a:r>
            <a:r>
              <a:rPr lang="en-US" spc="-10" dirty="0"/>
              <a:t>NTRODUCTION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0567E-09F7-9F3C-696A-FEE7A84659AA}"/>
              </a:ext>
            </a:extLst>
          </p:cNvPr>
          <p:cNvSpPr txBox="1"/>
          <p:nvPr/>
        </p:nvSpPr>
        <p:spPr>
          <a:xfrm>
            <a:off x="1066800" y="1619009"/>
            <a:ext cx="7425817" cy="3289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 volt Software Pvt. Ltd. is an IT services and software development company located in Coimbatore, Tamil Nadu.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company provides services such as web development, mobile application development, AI/ML solutions, and cloud-based software services.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 volt uses modern technologies like Python, TensorFlow, React, MySQL, and cloud platforms for developing intelligent software applications.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company focuses on delivering high-quality, secure, and user-friendly AI-powered solutions for healthcare and other business sectors.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 volt follows agile development methods and quality standards to ensure efficient, reliable, and scalable project development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98" y="1193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392772"/>
            <a:ext cx="657106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375410">
              <a:lnSpc>
                <a:spcPct val="100000"/>
              </a:lnSpc>
              <a:spcBef>
                <a:spcPts val="100"/>
              </a:spcBef>
            </a:pPr>
            <a:r>
              <a:rPr dirty="0"/>
              <a:t>C</a:t>
            </a:r>
            <a:r>
              <a:rPr lang="en-US" dirty="0"/>
              <a:t>OMPANY</a:t>
            </a:r>
            <a:r>
              <a:rPr spc="-10" dirty="0"/>
              <a:t> P</a:t>
            </a:r>
            <a:r>
              <a:rPr lang="en-US" spc="-10" dirty="0"/>
              <a:t>ROFILE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252EE8-6234-E6AF-04E9-1C0FBA36EC05}"/>
              </a:ext>
            </a:extLst>
          </p:cNvPr>
          <p:cNvSpPr txBox="1"/>
          <p:nvPr/>
        </p:nvSpPr>
        <p:spPr>
          <a:xfrm>
            <a:off x="1229066" y="1919015"/>
            <a:ext cx="6553200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SzPct val="100000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Company Name : Tech volt Software Pvt. Ltd.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Established in 2018 and located in Coimbatore, Tamil Nadu.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volt is an ISO 9001:2015 certified IT services and consulting company.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company provides software development, AI/ML solutions, web development, cloud services, and IT consulting.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➢ 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volt focuses on delivering innovative, scalable, and client-friendly    intelligent software applications.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1730" y="4853736"/>
            <a:ext cx="2425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solidFill>
                  <a:srgbClr val="FF0000"/>
                </a:solidFill>
                <a:latin typeface="Arial MT"/>
                <a:cs typeface="Arial MT"/>
              </a:rPr>
              <a:t>SKASC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25739" y="4797348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Arial MT"/>
                <a:cs typeface="Arial MT"/>
              </a:rPr>
              <a:t>5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13" y="0"/>
            <a:ext cx="1798574" cy="13536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86470" y="420957"/>
            <a:ext cx="694313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100"/>
              </a:spcBef>
            </a:pPr>
            <a:r>
              <a:rPr dirty="0"/>
              <a:t>S</a:t>
            </a:r>
            <a:r>
              <a:rPr lang="en-US" dirty="0"/>
              <a:t>YSTEM SPECIFICATION</a:t>
            </a:r>
            <a:endParaRPr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FE854-0EA1-5631-C39A-4B1D628121BA}"/>
              </a:ext>
            </a:extLst>
          </p:cNvPr>
          <p:cNvSpPr txBox="1"/>
          <p:nvPr/>
        </p:nvSpPr>
        <p:spPr>
          <a:xfrm>
            <a:off x="1143000" y="1844347"/>
            <a:ext cx="7391400" cy="2509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volt uses Intel Core i7/i9 processors with 32 GB RAM for AI model training                                  and software development.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Operating systems such as Windows 11 and Ubuntu Linux are used based on project and deployment requirements.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tools like VS Code, Jupyter Notebook, GitHub, Docker, and Anaconda are used for AI application development.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volt uses cloud platforms along with high-speed networking, for secure and efficient AI deployments.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16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3511" y="392772"/>
            <a:ext cx="6945255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HIGHLIGHTS OF THE COMPANY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5AF86-2963-E92E-4C62-BB6F9BE136ED}"/>
              </a:ext>
            </a:extLst>
          </p:cNvPr>
          <p:cNvSpPr txBox="1"/>
          <p:nvPr/>
        </p:nvSpPr>
        <p:spPr>
          <a:xfrm>
            <a:off x="1296930" y="1562684"/>
            <a:ext cx="6781800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fast-growing IT companies in Coimbatore, specializing in AI, Machine Learning, Web Development, and Cloud Computing.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9001:2015 Certified company delivering high-quality and reliable software solutions.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innovative AI-powered applications for healthcare, education, and business automation.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modern technologies such as Python, TensorFlow, Scikit-learn, React, Docker, and AWS.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Agile Development Methodology to ensure efficient project management and timely delivery.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Industrial Exposure Training (IET), internships, and real-time project experience for students. </a:t>
            </a:r>
          </a:p>
          <a:p>
            <a:pPr>
              <a:lnSpc>
                <a:spcPct val="150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7826" y="669374"/>
            <a:ext cx="5562600" cy="52693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965200" marR="5080" indent="-952500">
              <a:lnSpc>
                <a:spcPts val="3890"/>
              </a:lnSpc>
              <a:spcBef>
                <a:spcPts val="585"/>
              </a:spcBef>
            </a:pPr>
            <a:r>
              <a:rPr dirty="0"/>
              <a:t>D</a:t>
            </a:r>
            <a:r>
              <a:rPr lang="en-US" dirty="0"/>
              <a:t>EPARTMENTS OF </a:t>
            </a:r>
            <a:r>
              <a:rPr lang="en-US" spc="-5" dirty="0"/>
              <a:t>THE</a:t>
            </a:r>
            <a:r>
              <a:rPr spc="-25" dirty="0"/>
              <a:t> </a:t>
            </a:r>
            <a:r>
              <a:rPr spc="-10" dirty="0"/>
              <a:t>C</a:t>
            </a:r>
            <a:r>
              <a:rPr lang="en-US" spc="-10" dirty="0"/>
              <a:t>OMPANY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5F8FE-6932-0EAA-8794-997E42BA014A}"/>
              </a:ext>
            </a:extLst>
          </p:cNvPr>
          <p:cNvSpPr txBox="1"/>
          <p:nvPr/>
        </p:nvSpPr>
        <p:spPr>
          <a:xfrm>
            <a:off x="1257300" y="1818059"/>
            <a:ext cx="6629400" cy="30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AI/ML Research Department – Handles machine learning model development and data science projects.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Software Development Department – Builds web, mobile, and enterprise software applications.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Quality Assurance Department – Tests applications and validates AI model accuracy and software quality.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Engineering Department – Manages data pipelines, preprocessing, and database architecture.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 Support Department – Provides technical support, client onboarding, and project assistance.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149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2600" y="689900"/>
            <a:ext cx="5827014" cy="51732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022350" marR="5080" indent="-216535">
              <a:lnSpc>
                <a:spcPts val="4230"/>
              </a:lnSpc>
              <a:spcBef>
                <a:spcPts val="285"/>
              </a:spcBef>
            </a:pPr>
            <a:r>
              <a:rPr dirty="0"/>
              <a:t>S</a:t>
            </a:r>
            <a:r>
              <a:rPr lang="en-US" dirty="0"/>
              <a:t>PECIALIZED </a:t>
            </a:r>
            <a:r>
              <a:rPr spc="-80" dirty="0"/>
              <a:t> </a:t>
            </a:r>
            <a:r>
              <a:rPr spc="-10" dirty="0"/>
              <a:t>D</a:t>
            </a:r>
            <a:r>
              <a:rPr lang="en-US" spc="-10" dirty="0"/>
              <a:t>EPARTMENT </a:t>
            </a:r>
            <a:r>
              <a:rPr spc="-10" dirty="0"/>
              <a:t> 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E217A-D123-3569-DEC2-51C05A1AAFFA}"/>
              </a:ext>
            </a:extLst>
          </p:cNvPr>
          <p:cNvSpPr txBox="1"/>
          <p:nvPr/>
        </p:nvSpPr>
        <p:spPr>
          <a:xfrm>
            <a:off x="1001655" y="1657760"/>
            <a:ext cx="73914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AI / ML RESEARCH DEPARTMENT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Conducts research on Artificial Intelligence (AI) and Machine Learning (ML) technologies.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and trains machine learning models using data to make accurate predictions.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Collects, processes, and analyses data to improve the performance of AI systems.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tools and programming languages such as Python, TensorFlow, Scikit-learn, and Pandas for AI development.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AI-based solutions for real-world applications in healthcare, finance, education, automation, and business. </a:t>
            </a:r>
          </a:p>
          <a:p>
            <a:pPr>
              <a:lnSpc>
                <a:spcPct val="150000"/>
              </a:lnSpc>
            </a:pP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33600" y="509679"/>
            <a:ext cx="5867400" cy="81650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-5715" algn="ctr">
              <a:lnSpc>
                <a:spcPct val="90000"/>
              </a:lnSpc>
              <a:spcBef>
                <a:spcPts val="535"/>
              </a:spcBef>
            </a:pPr>
            <a:r>
              <a:rPr dirty="0"/>
              <a:t>A</a:t>
            </a:r>
            <a:r>
              <a:rPr lang="en-US" dirty="0"/>
              <a:t>BOUT </a:t>
            </a:r>
            <a:r>
              <a:rPr lang="en-US" spc="-5" dirty="0"/>
              <a:t>MY</a:t>
            </a:r>
            <a:r>
              <a:rPr spc="-10" dirty="0"/>
              <a:t> </a:t>
            </a:r>
            <a:r>
              <a:rPr dirty="0"/>
              <a:t>P</a:t>
            </a:r>
            <a:r>
              <a:rPr lang="en-US" dirty="0"/>
              <a:t>ROJECT </a:t>
            </a:r>
            <a:r>
              <a:rPr dirty="0"/>
              <a:t>:</a:t>
            </a:r>
            <a:r>
              <a:rPr spc="-15" dirty="0"/>
              <a:t> </a:t>
            </a:r>
            <a:br>
              <a:rPr lang="en-US" spc="-15" dirty="0"/>
            </a:br>
            <a:r>
              <a:rPr lang="en-US" spc="-20" dirty="0"/>
              <a:t>DIABETES PREDICTION SYSTEM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790">
              <a:lnSpc>
                <a:spcPts val="142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EFC9C-3AC3-F94B-732A-0F41B09E9F72}"/>
              </a:ext>
            </a:extLst>
          </p:cNvPr>
          <p:cNvSpPr txBox="1"/>
          <p:nvPr/>
        </p:nvSpPr>
        <p:spPr>
          <a:xfrm>
            <a:off x="1219200" y="1763160"/>
            <a:ext cx="701040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Diabetes Prediction System is an AI-based application developed using Python and machine learning algorithms.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project predicts the likelihood of diabetes in patients using medical parameters like glucose level, BMI, and blood pressure.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application processes patient health data and applies trained ML models to generate accurate risk predictions.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provides early-stage diagnosis support, enabling timely medical intervention and better patient outcomes.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project features a user-friendly web interface that allows healthcare professionals to input data and view predictions easily.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8574" cy="1357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3346" y="494192"/>
            <a:ext cx="657106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21513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</a:t>
            </a:r>
            <a:r>
              <a:rPr lang="en-US" spc="-10" dirty="0"/>
              <a:t>ONCLUSION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5BA7E-66B7-B507-8D49-0C9CEDDC133C}"/>
              </a:ext>
            </a:extLst>
          </p:cNvPr>
          <p:cNvSpPr txBox="1"/>
          <p:nvPr/>
        </p:nvSpPr>
        <p:spPr>
          <a:xfrm>
            <a:off x="1066800" y="1836887"/>
            <a:ext cx="7162800" cy="3042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Diabetes Prediction System was successfully developed using Python and machine learning algorithms.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application enables accurate early-stage diabetes risk prediction based on patient health parameters.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project enhanced my knowledge in data preprocessing, machine learning model development, and web deployment.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provides a simple, interactive, and clinically useful tool for supporting healthcare professionals.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project demonstrated the real-world impact of AI in healthcare and strengthened my practical understanding of data science.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9109-706F-35BB-5DCC-E89FF4DD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635620"/>
            <a:ext cx="6571060" cy="530223"/>
          </a:xfrm>
        </p:spPr>
        <p:txBody>
          <a:bodyPr/>
          <a:lstStyle/>
          <a:p>
            <a:r>
              <a:rPr lang="en-US" dirty="0"/>
              <a:t>     FUTURE ENHANCEMENT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EAEE-26F8-7F1F-1CD8-10C7FED8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216" y="1885951"/>
            <a:ext cx="7439584" cy="2628900"/>
          </a:xfrm>
        </p:spPr>
        <p:txBody>
          <a:bodyPr>
            <a:normAutofit fontScale="92500" lnSpcReduction="20000"/>
          </a:bodyPr>
          <a:lstStyle/>
          <a:p>
            <a:pPr marL="285750" indent="-28575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 </a:t>
            </a: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deep learning models such as Neural Networks for improved diabetes prediction accuracy.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support for real-time patient data input via wearable health devices and IoT sensors.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 mobile application version for Android and iOS to enable on-the-go health monitoring.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multi-disease prediction capabilities covering hypertension, heart disease, and kidney conditions.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explainability features (e.g. SHAP values) to help doctors understand model predictions in clinical settings.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EC3A3B4D-8027-F5FA-7ADF-DEAEE706AE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98574" cy="135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14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8DEEA-189B-BD4E-BB5B-BD1AB9C92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084" y="1885950"/>
            <a:ext cx="6705600" cy="2895599"/>
          </a:xfrm>
        </p:spPr>
        <p:txBody>
          <a:bodyPr>
            <a:normAutofit fontScale="32500" lnSpcReduction="20000"/>
          </a:bodyPr>
          <a:lstStyle/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Python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https://docs.python.org/3/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Scikit-learn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https://scikit-learn.org/stable/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TensorFlow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https://www.tensorflow.org/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Pandas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https://pandas.pydata.org/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NumPy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https://numpy.org/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Flask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https://flask.palletsprojects.com/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Matplotlib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https://matplotlib.org/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Jupyter Notebook Documentation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https://jupyter.org/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Pima Indians Diabetes Database – 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https://www.kaggle.com/datasets/uciml/pima-indians-diabetes-database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Ian Goodfellow, Yoshua Bengio, and Aaron Courville. </a:t>
            </a:r>
            <a:r>
              <a:rPr lang="en-IN" sz="3000" i="1" dirty="0">
                <a:latin typeface="Arial" panose="020B0604020202020204" pitchFamily="34" charset="0"/>
                <a:cs typeface="Arial" panose="020B0604020202020204" pitchFamily="34" charset="0"/>
              </a:rPr>
              <a:t>Deep Learning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. MIT Press, 2016. </a:t>
            </a:r>
          </a:p>
          <a:p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Aurélien </a:t>
            </a:r>
            <a:r>
              <a:rPr lang="en-IN" sz="3000" dirty="0" err="1">
                <a:latin typeface="Arial" panose="020B0604020202020204" pitchFamily="34" charset="0"/>
                <a:cs typeface="Arial" panose="020B0604020202020204" pitchFamily="34" charset="0"/>
              </a:rPr>
              <a:t>Gérn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N" sz="3000" i="1" dirty="0">
                <a:latin typeface="Arial" panose="020B0604020202020204" pitchFamily="34" charset="0"/>
                <a:cs typeface="Arial" panose="020B0604020202020204" pitchFamily="34" charset="0"/>
              </a:rPr>
              <a:t>Hands-On Machine Learning with Scikit-Learn, </a:t>
            </a:r>
            <a:r>
              <a:rPr lang="en-IN" sz="3000" i="1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sz="3000" i="1" dirty="0">
                <a:latin typeface="Arial" panose="020B0604020202020204" pitchFamily="34" charset="0"/>
                <a:cs typeface="Arial" panose="020B0604020202020204" pitchFamily="34" charset="0"/>
              </a:rPr>
              <a:t> &amp; TensorFlow</a:t>
            </a:r>
            <a:r>
              <a:rPr lang="en-IN" sz="3000" dirty="0">
                <a:latin typeface="Arial" panose="020B0604020202020204" pitchFamily="34" charset="0"/>
                <a:cs typeface="Arial" panose="020B0604020202020204" pitchFamily="34" charset="0"/>
              </a:rPr>
              <a:t> (3rd Edition). O'Reilly Media, 2022. </a:t>
            </a:r>
          </a:p>
          <a:p>
            <a:endParaRPr lang="en-IN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8BCDE21-9921-84B1-8AA6-2B01437D3C68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1798574" cy="135750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7CBC56B-D26F-8A62-DDA3-CC320D2E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208" y="678286"/>
            <a:ext cx="6845480" cy="530223"/>
          </a:xfrm>
        </p:spPr>
        <p:txBody>
          <a:bodyPr/>
          <a:lstStyle/>
          <a:p>
            <a:r>
              <a:rPr lang="en-US" dirty="0"/>
              <a:t> BIBLIOGRAPHY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09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486961"/>
            <a:ext cx="657106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7945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SAMPLE </a:t>
            </a:r>
            <a:r>
              <a:rPr spc="-10" dirty="0"/>
              <a:t>S</a:t>
            </a:r>
            <a:r>
              <a:rPr lang="en-US" spc="-10" dirty="0"/>
              <a:t>CREENSHOTS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828B3C-223B-0F22-C5BE-8E91A786A8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38" y="1809750"/>
            <a:ext cx="5897724" cy="2745916"/>
          </a:xfrm>
          <a:prstGeom prst="rect">
            <a:avLst/>
          </a:prstGeom>
        </p:spPr>
      </p:pic>
      <p:pic>
        <p:nvPicPr>
          <p:cNvPr id="8" name="object 2">
            <a:extLst>
              <a:ext uri="{FF2B5EF4-FFF2-40B4-BE49-F238E27FC236}">
                <a16:creationId xmlns:a16="http://schemas.microsoft.com/office/drawing/2014/main" id="{1DB9A9D5-C38B-A0F8-02FC-993BA728BA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0"/>
            <a:ext cx="1798574" cy="13575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6470" y="370001"/>
            <a:ext cx="6571060" cy="809580"/>
          </a:xfrm>
          <a:prstGeom prst="rect">
            <a:avLst/>
          </a:prstGeom>
        </p:spPr>
        <p:txBody>
          <a:bodyPr vert="horz" wrap="square" lIns="0" tIns="390270" rIns="0" bIns="0" rtlCol="0">
            <a:spAutoFit/>
          </a:bodyPr>
          <a:lstStyle/>
          <a:p>
            <a:pPr marL="17945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SAMPLE SCREENSHOTS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6CD20-72C7-0362-2B10-A88203D14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72156"/>
            <a:ext cx="5562600" cy="2644803"/>
          </a:xfrm>
          <a:prstGeom prst="rect">
            <a:avLst/>
          </a:prstGeom>
        </p:spPr>
      </p:pic>
      <p:pic>
        <p:nvPicPr>
          <p:cNvPr id="9" name="object 2">
            <a:extLst>
              <a:ext uri="{FF2B5EF4-FFF2-40B4-BE49-F238E27FC236}">
                <a16:creationId xmlns:a16="http://schemas.microsoft.com/office/drawing/2014/main" id="{6039DCBE-73B6-6FA1-EAB1-E888D9BE8E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0"/>
            <a:ext cx="1798574" cy="13575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5487" y="509679"/>
            <a:ext cx="6571060" cy="797269"/>
          </a:xfrm>
          <a:prstGeom prst="rect">
            <a:avLst/>
          </a:prstGeom>
        </p:spPr>
        <p:txBody>
          <a:bodyPr vert="horz" wrap="square" lIns="0" tIns="378078" rIns="0" bIns="0" rtlCol="0">
            <a:spAutoFit/>
          </a:bodyPr>
          <a:lstStyle/>
          <a:p>
            <a:pPr marL="179451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SAMPLE SCREENSHOTS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10" dirty="0"/>
              <a:t>SKASC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5AEFE-EAAE-0C6C-AD23-D0C2DA4084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749" y="1809750"/>
            <a:ext cx="6019800" cy="2781300"/>
          </a:xfrm>
          <a:prstGeom prst="rect">
            <a:avLst/>
          </a:prstGeom>
        </p:spPr>
      </p:pic>
      <p:pic>
        <p:nvPicPr>
          <p:cNvPr id="8" name="object 2">
            <a:extLst>
              <a:ext uri="{FF2B5EF4-FFF2-40B4-BE49-F238E27FC236}">
                <a16:creationId xmlns:a16="http://schemas.microsoft.com/office/drawing/2014/main" id="{818841EC-71E9-34E3-782F-A9A9B4CFF90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0"/>
            <a:ext cx="1798574" cy="13575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0854" y="4797348"/>
            <a:ext cx="5448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Arial MT"/>
                <a:cs typeface="Arial MT"/>
              </a:rPr>
              <a:t>SKASC</a:t>
            </a:r>
            <a:r>
              <a:rPr lang="en-IN" sz="1200" spc="-10" dirty="0">
                <a:solidFill>
                  <a:srgbClr val="888888"/>
                </a:solidFill>
                <a:latin typeface="Arial MT"/>
                <a:cs typeface="Arial MT"/>
              </a:rPr>
              <a:t>Q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40394" y="4797348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18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78834" y="2219909"/>
            <a:ext cx="2730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chemeClr val="tx1"/>
                </a:solidFill>
                <a:latin typeface="Arial"/>
                <a:cs typeface="Arial"/>
              </a:rPr>
              <a:t>Thank</a:t>
            </a:r>
            <a:r>
              <a:rPr sz="4000" b="1" spc="-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4000" b="1" spc="-20" dirty="0">
                <a:solidFill>
                  <a:schemeClr val="tx1"/>
                </a:solidFill>
                <a:latin typeface="Arial"/>
                <a:cs typeface="Arial"/>
              </a:rPr>
              <a:t>you!</a:t>
            </a:r>
            <a:endParaRPr sz="400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270</TotalTime>
  <Words>1054</Words>
  <Application>Microsoft Office PowerPoint</Application>
  <PresentationFormat>On-screen Show (16:9)</PresentationFormat>
  <Paragraphs>111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Century Gothic</vt:lpstr>
      <vt:lpstr>Times New Roman</vt:lpstr>
      <vt:lpstr>Wingdings</vt:lpstr>
      <vt:lpstr>Wingdings 3</vt:lpstr>
      <vt:lpstr>Ion Boardroom</vt:lpstr>
      <vt:lpstr>Sri Krishna Arts and Science College Coimbatore</vt:lpstr>
      <vt:lpstr>INTRODUCTION</vt:lpstr>
      <vt:lpstr>COMPANY PROFILE</vt:lpstr>
      <vt:lpstr>SYSTEM SPECIFICATION</vt:lpstr>
      <vt:lpstr>HIGHLIGHTS OF THE COMPANY</vt:lpstr>
      <vt:lpstr>DEPARTMENTS OF THE COMPANY</vt:lpstr>
      <vt:lpstr>SPECIALIZED  DEPARTMENT  </vt:lpstr>
      <vt:lpstr>ABOUT MY PROJECT :  DIABETES PREDICTION SYSTEM</vt:lpstr>
      <vt:lpstr>CONCLUSION</vt:lpstr>
      <vt:lpstr>     FUTURE ENHANCEMENT</vt:lpstr>
      <vt:lpstr> BIBLIOGRAPHY</vt:lpstr>
      <vt:lpstr>SAMPLE SCREENSHOTS</vt:lpstr>
      <vt:lpstr>SAMPLE SCREENSHOTS</vt:lpstr>
      <vt:lpstr>SAMPLE SCREENSHOTS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Admin</dc:creator>
  <cp:lastModifiedBy>sidbashaa@outlook.com</cp:lastModifiedBy>
  <cp:revision>6</cp:revision>
  <dcterms:created xsi:type="dcterms:W3CDTF">2026-05-20T16:39:40Z</dcterms:created>
  <dcterms:modified xsi:type="dcterms:W3CDTF">2026-07-18T07:30:14Z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2026-05-20T00:00:00Z</vt:filetime>
  </property>
  <property fmtid="{D5CDD505-2E9C-101B-9397-08002B2CF9AE}" pid="5" name="Producer">
    <vt:lpwstr>Microsoft® PowerPoint® 2021</vt:lpwstr>
  </property>
</Properties>
</file>